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āra Medne" userId="14c9425f-45c6-4888-b37a-dd1d50f476b1" providerId="ADAL" clId="{304BF15C-8F8C-49ED-9AB6-EB756FBFC6F8}"/>
    <pc:docChg chg="modSld">
      <pc:chgData name="Māra Medne" userId="14c9425f-45c6-4888-b37a-dd1d50f476b1" providerId="ADAL" clId="{304BF15C-8F8C-49ED-9AB6-EB756FBFC6F8}" dt="2026-04-21T12:43:51.087" v="10" actId="20577"/>
      <pc:docMkLst>
        <pc:docMk/>
      </pc:docMkLst>
      <pc:sldChg chg="modSp mod">
        <pc:chgData name="Māra Medne" userId="14c9425f-45c6-4888-b37a-dd1d50f476b1" providerId="ADAL" clId="{304BF15C-8F8C-49ED-9AB6-EB756FBFC6F8}" dt="2026-04-21T12:43:51.087" v="10" actId="20577"/>
        <pc:sldMkLst>
          <pc:docMk/>
          <pc:sldMk cId="0" sldId="258"/>
        </pc:sldMkLst>
        <pc:spChg chg="mod">
          <ac:chgData name="Māra Medne" userId="14c9425f-45c6-4888-b37a-dd1d50f476b1" providerId="ADAL" clId="{304BF15C-8F8C-49ED-9AB6-EB756FBFC6F8}" dt="2026-04-21T12:43:51.087" v="10" actId="20577"/>
          <ac:spMkLst>
            <pc:docMk/>
            <pc:sldMk cId="0" sldId="258"/>
            <ac:spMk id="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91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Shape 2"/>
          <p:cNvSpPr/>
          <p:nvPr/>
        </p:nvSpPr>
        <p:spPr>
          <a:xfrm>
            <a:off x="5166360" y="731520"/>
            <a:ext cx="1828800" cy="18288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1887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43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BANKAS KLIENTU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14400" y="32918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Termiņdepozīta Prognozēšana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166360" y="4297680"/>
            <a:ext cx="18288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9" name="Text 6"/>
          <p:cNvSpPr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Mašīnmācīšanās modelis 11.7% konversijas pārvēršanai 41.6%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Mašīnmācīšanās kurss  •  2026. gada aprīlis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Problēma un dati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PROBLĒMA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 veic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 kampaņas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piedāvājot termiņdepozītus.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Tiek zvanīts </a:t>
            </a: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VISIEM klientiem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vairums atsaka.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Pašreizējā konversija: </a:t>
            </a: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tikai 11.7%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MĒRĶIS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Identificēt klientus, kas </a:t>
            </a: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visticamāk piekritīs</a:t>
            </a: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samazināt zvanu skaitu un palielināt konversiju.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12" name="Shape 10"/>
          <p:cNvSpPr/>
          <p:nvPr/>
        </p:nvSpPr>
        <p:spPr>
          <a:xfrm>
            <a:off x="6675120" y="13716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1531620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9808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UCI Bank Marketing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75120" y="2468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45 211</a:t>
            </a:r>
            <a:endParaRPr lang="en-US" sz="5600" dirty="0"/>
          </a:p>
        </p:txBody>
      </p:sp>
      <p:sp>
        <p:nvSpPr>
          <p:cNvPr id="17" name="Text 14"/>
          <p:cNvSpPr/>
          <p:nvPr/>
        </p:nvSpPr>
        <p:spPr>
          <a:xfrm>
            <a:off x="6675120" y="32461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klientu ieraksti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7512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67512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kolonnas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32104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32104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kategoriskas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66960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96696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skaitliskas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67512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Klases sadalījums (target: y)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75120" y="5074920"/>
            <a:ext cx="4198559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6" name="Shape 23"/>
          <p:cNvSpPr/>
          <p:nvPr/>
        </p:nvSpPr>
        <p:spPr>
          <a:xfrm>
            <a:off x="10873679" y="5074920"/>
            <a:ext cx="556321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7" name="Text 24"/>
          <p:cNvSpPr/>
          <p:nvPr/>
        </p:nvSpPr>
        <p:spPr>
          <a:xfrm>
            <a:off x="6675120" y="5074920"/>
            <a:ext cx="419855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NO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873679" y="5074920"/>
            <a:ext cx="5563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11.7% YES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675120" y="5760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Tikai 5 289 klienti reāli piekrīt — klases disbalanss ir galvenais izaicinājums.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1" name="Text 28"/>
          <p:cNvSpPr/>
          <p:nvPr/>
        </p:nvSpPr>
        <p:spPr>
          <a:xfrm>
            <a:off x="45720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| Mašīnmācīšanās gala projekts | 2026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Pieeja: ML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KLASIFIKĀCIJA (binārā: yes/no)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10312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9" name="Shape 7"/>
          <p:cNvSpPr/>
          <p:nvPr/>
        </p:nvSpPr>
        <p:spPr>
          <a:xfrm>
            <a:off x="1234440" y="23774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0" name="Text 8"/>
          <p:cNvSpPr/>
          <p:nvPr/>
        </p:nvSpPr>
        <p:spPr>
          <a:xfrm>
            <a:off x="1234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 tīrīšana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Izmestas 54 rindas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≥4 'unknown'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21031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6" name="Shape 14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8346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37947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jaunas pazīmes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total_debts,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contacted_before,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22" name="Shape 20"/>
          <p:cNvSpPr/>
          <p:nvPr/>
        </p:nvSpPr>
        <p:spPr>
          <a:xfrm>
            <a:off x="5029200" y="2011680"/>
            <a:ext cx="210312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3" name="Shape 21"/>
          <p:cNvSpPr/>
          <p:nvPr/>
        </p:nvSpPr>
        <p:spPr>
          <a:xfrm>
            <a:off x="5806440" y="23774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4" name="Text 22"/>
          <p:cNvSpPr/>
          <p:nvPr/>
        </p:nvSpPr>
        <p:spPr>
          <a:xfrm>
            <a:off x="5806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206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37947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 + 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OneHotEncoder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315200" y="20116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29" name="Shape 27"/>
          <p:cNvSpPr/>
          <p:nvPr/>
        </p:nvSpPr>
        <p:spPr>
          <a:xfrm>
            <a:off x="7315200" y="2011680"/>
            <a:ext cx="2103120" cy="137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0" name="Shape 28"/>
          <p:cNvSpPr/>
          <p:nvPr/>
        </p:nvSpPr>
        <p:spPr>
          <a:xfrm>
            <a:off x="8092440" y="23774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1" name="Text 29"/>
          <p:cNvSpPr/>
          <p:nvPr/>
        </p:nvSpPr>
        <p:spPr>
          <a:xfrm>
            <a:off x="8092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066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06640" y="37947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class_weight=balanced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726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601200" y="2011680"/>
            <a:ext cx="2103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36" name="Shape 34"/>
          <p:cNvSpPr/>
          <p:nvPr/>
        </p:nvSpPr>
        <p:spPr>
          <a:xfrm>
            <a:off x="9601200" y="2011680"/>
            <a:ext cx="210312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7" name="Shape 35"/>
          <p:cNvSpPr/>
          <p:nvPr/>
        </p:nvSpPr>
        <p:spPr>
          <a:xfrm>
            <a:off x="10378440" y="237744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8" name="Text 36"/>
          <p:cNvSpPr/>
          <p:nvPr/>
        </p:nvSpPr>
        <p:spPr>
          <a:xfrm>
            <a:off x="10378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692640" y="30632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Validācija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92640" y="379476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5-fold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760720"/>
            <a:ext cx="112471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 dirty="0"/>
          </a:p>
        </p:txBody>
      </p:sp>
      <p:sp>
        <p:nvSpPr>
          <p:cNvPr id="42" name="Shape 40"/>
          <p:cNvSpPr/>
          <p:nvPr/>
        </p:nvSpPr>
        <p:spPr>
          <a:xfrm>
            <a:off x="594360" y="585216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5966460"/>
            <a:ext cx="228600" cy="22860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88720" y="5852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KRITISKAIS LĒMUMS: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+ class_weight='balanced' nodrošina, ka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lv-LV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neapmaldās</a:t>
            </a:r>
            <a:r>
              <a:rPr lang="lv-LV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disbalansā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6" name="Text 43"/>
          <p:cNvSpPr/>
          <p:nvPr/>
        </p:nvSpPr>
        <p:spPr>
          <a:xfrm>
            <a:off x="45720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| Mašīnmācīšanās gala projekts | 2026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Modeļu salīdzinājums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 F1 Score (5-fold Stratified)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8580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7" name="Shape 5"/>
          <p:cNvSpPr/>
          <p:nvPr/>
        </p:nvSpPr>
        <p:spPr>
          <a:xfrm>
            <a:off x="1097280" y="557784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8" name="Text 6"/>
          <p:cNvSpPr/>
          <p:nvPr/>
        </p:nvSpPr>
        <p:spPr>
          <a:xfrm>
            <a:off x="502920" y="54681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5055326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0" name="Text 8"/>
          <p:cNvSpPr/>
          <p:nvPr/>
        </p:nvSpPr>
        <p:spPr>
          <a:xfrm>
            <a:off x="502920" y="4945598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4532811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502920" y="4423083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97280" y="4010297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4" name="Text 12"/>
          <p:cNvSpPr/>
          <p:nvPr/>
        </p:nvSpPr>
        <p:spPr>
          <a:xfrm>
            <a:off x="502920" y="3900569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487783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6" name="Text 14"/>
          <p:cNvSpPr/>
          <p:nvPr/>
        </p:nvSpPr>
        <p:spPr>
          <a:xfrm>
            <a:off x="502920" y="3378055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2965269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8" name="Text 16"/>
          <p:cNvSpPr/>
          <p:nvPr/>
        </p:nvSpPr>
        <p:spPr>
          <a:xfrm>
            <a:off x="502920" y="2855541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2442754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0" name="Text 18"/>
          <p:cNvSpPr/>
          <p:nvPr/>
        </p:nvSpPr>
        <p:spPr>
          <a:xfrm>
            <a:off x="502920" y="233302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97280" y="1920240"/>
            <a:ext cx="6035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2" name="Text 20"/>
          <p:cNvSpPr/>
          <p:nvPr/>
        </p:nvSpPr>
        <p:spPr>
          <a:xfrm>
            <a:off x="502920" y="1810512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36751" y="4602306"/>
            <a:ext cx="829818" cy="97553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4" name="Text 22"/>
          <p:cNvSpPr/>
          <p:nvPr/>
        </p:nvSpPr>
        <p:spPr>
          <a:xfrm>
            <a:off x="1253871" y="4236546"/>
            <a:ext cx="119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0.1867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62431" y="5669280"/>
            <a:ext cx="137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Bāzes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45511" y="3350362"/>
            <a:ext cx="829818" cy="2227478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7" name="Text 25"/>
          <p:cNvSpPr/>
          <p:nvPr/>
        </p:nvSpPr>
        <p:spPr>
          <a:xfrm>
            <a:off x="2762631" y="2984602"/>
            <a:ext cx="119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0.4263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71191" y="5669280"/>
            <a:ext cx="137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54271" y="2922422"/>
            <a:ext cx="829818" cy="265541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0" name="Text 28"/>
          <p:cNvSpPr/>
          <p:nvPr/>
        </p:nvSpPr>
        <p:spPr>
          <a:xfrm>
            <a:off x="4271391" y="2556662"/>
            <a:ext cx="119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0.5082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79951" y="5669280"/>
            <a:ext cx="137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63031" y="2675796"/>
            <a:ext cx="829818" cy="29020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3" name="Text 31"/>
          <p:cNvSpPr/>
          <p:nvPr/>
        </p:nvSpPr>
        <p:spPr>
          <a:xfrm>
            <a:off x="5780151" y="2310036"/>
            <a:ext cx="11955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0.5554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88711" y="5669280"/>
            <a:ext cx="1378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5577840"/>
            <a:ext cx="6035040" cy="0"/>
          </a:xfrm>
          <a:prstGeom prst="line">
            <a:avLst/>
          </a:prstGeom>
          <a:noFill/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6" name="Shape 34"/>
          <p:cNvSpPr/>
          <p:nvPr/>
        </p:nvSpPr>
        <p:spPr>
          <a:xfrm>
            <a:off x="7589520" y="1188720"/>
            <a:ext cx="411480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37" name="Text 35"/>
          <p:cNvSpPr/>
          <p:nvPr/>
        </p:nvSpPr>
        <p:spPr>
          <a:xfrm>
            <a:off x="777240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UZLABOJUMS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15544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0.19 → 0.55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7772400" y="2240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+197% </a:t>
            </a: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salīdzinot ar bāzes modeli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2788920"/>
            <a:ext cx="411480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41" name="Text 39"/>
          <p:cNvSpPr/>
          <p:nvPr/>
        </p:nvSpPr>
        <p:spPr>
          <a:xfrm>
            <a:off x="777240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INTERESANTS PAVĒRSIENS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72400" y="3154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 + GridSearchCV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 = 0.5556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772400" y="3931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Pārspēja LogReg par </a:t>
            </a: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+0.0002</a:t>
            </a: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statistiski nenozīmīgs.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89520" y="4754880"/>
            <a:ext cx="411480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6" name="Text 44"/>
          <p:cNvSpPr/>
          <p:nvPr/>
        </p:nvSpPr>
        <p:spPr>
          <a:xfrm>
            <a:off x="777240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MANS LĒMUMS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72400" y="5120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LogisticRegression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772400" y="5532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100x ātrāks  •  vieglāk interpretējams  •  praktiskāks ražošanā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0" name="Text 48"/>
          <p:cNvSpPr/>
          <p:nvPr/>
        </p:nvSpPr>
        <p:spPr>
          <a:xfrm>
            <a:off x="45720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| Mašīnmācīšanās gala projekts |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Rezultāti un interpretācija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0.5554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kombinēts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73152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352044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(yes)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2044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BIZNESA NOZĪMĪGĀKAIS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73152" cy="13716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7" name="Text 15"/>
          <p:cNvSpPr/>
          <p:nvPr/>
        </p:nvSpPr>
        <p:spPr>
          <a:xfrm>
            <a:off x="640080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(yes)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pieņemams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98280" y="118872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21" name="Shape 19"/>
          <p:cNvSpPr/>
          <p:nvPr/>
        </p:nvSpPr>
        <p:spPr>
          <a:xfrm>
            <a:off x="9098280" y="1188720"/>
            <a:ext cx="73152" cy="1371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2" name="Text 20"/>
          <p:cNvSpPr/>
          <p:nvPr/>
        </p:nvSpPr>
        <p:spPr>
          <a:xfrm>
            <a:off x="9281160" y="13258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1160" y="160020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281160" y="22402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kopējais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6" name="Shape 24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994660"/>
            <a:ext cx="228600" cy="228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80160" y="2880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APZINĀTĀ IZVĒLE: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Optimizēju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NEVIS F1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bankas mērķis ir nepalaist garām pircējus, nevis uzlabot matemātisku rādītāju.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365760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30" name="Text 27"/>
          <p:cNvSpPr/>
          <p:nvPr/>
        </p:nvSpPr>
        <p:spPr>
          <a:xfrm>
            <a:off x="6400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(testa kopa: 9 032)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14400" y="4297680"/>
            <a:ext cx="2194560" cy="822960"/>
          </a:xfrm>
          <a:prstGeom prst="rect">
            <a:avLst/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2" name="Text 29"/>
          <p:cNvSpPr/>
          <p:nvPr/>
        </p:nvSpPr>
        <p:spPr>
          <a:xfrm>
            <a:off x="91440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6 765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144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pareizi NO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3200400" y="4297680"/>
            <a:ext cx="2194560" cy="822960"/>
          </a:xfrm>
          <a:prstGeom prst="rect">
            <a:avLst/>
          </a:prstGeom>
          <a:solidFill>
            <a:srgbClr val="F39C12">
              <a:alpha val="7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5" name="Text 32"/>
          <p:cNvSpPr/>
          <p:nvPr/>
        </p:nvSpPr>
        <p:spPr>
          <a:xfrm>
            <a:off x="320040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1 209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3200400" y="4800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lieki zvani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914400" y="5212080"/>
            <a:ext cx="2194560" cy="822960"/>
          </a:xfrm>
          <a:prstGeom prst="rect">
            <a:avLst/>
          </a:prstGeom>
          <a:solidFill>
            <a:srgbClr val="E74C3C">
              <a:alpha val="7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8" name="Text 35"/>
          <p:cNvSpPr/>
          <p:nvPr/>
        </p:nvSpPr>
        <p:spPr>
          <a:xfrm>
            <a:off x="91440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914400" y="5715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palaisti pircēji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3200400" y="5212080"/>
            <a:ext cx="2194560" cy="822960"/>
          </a:xfrm>
          <a:prstGeom prst="rect">
            <a:avLst/>
          </a:prstGeom>
          <a:solidFill>
            <a:srgbClr val="27AE60">
              <a:alpha val="7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1" name="Text 38"/>
          <p:cNvSpPr/>
          <p:nvPr/>
        </p:nvSpPr>
        <p:spPr>
          <a:xfrm>
            <a:off x="320040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863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3200400" y="5715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atrasti pircēji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217920" y="3657600"/>
            <a:ext cx="5486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44" name="Text 41"/>
          <p:cNvSpPr/>
          <p:nvPr/>
        </p:nvSpPr>
        <p:spPr>
          <a:xfrm>
            <a:off x="640080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svarīgākās pazīmes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40080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85800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month_mar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10058400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+1.84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40080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858000" y="4754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poutcome_success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10058400" y="4754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+1.59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640080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6858000" y="5257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10058400" y="5257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+1.50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400800" y="5760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6858000" y="5760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age_group_retired ⭐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10058400" y="5760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+0.69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6400800" y="62636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Mana izveidotā pazīme TOP 6!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59" name="Text 56"/>
          <p:cNvSpPr/>
          <p:nvPr/>
        </p:nvSpPr>
        <p:spPr>
          <a:xfrm>
            <a:off x="45720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| Mašīnmācīšanās gala projekts | 2026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121615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Biznesa vērtība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Pirms vs. ar ML modeli (testa kopa: 9 032 klienti)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2120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21208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PIRMS — visiem zvanīt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9 032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kopējie zvani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3383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1 058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piekrita (no visiem)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F8F9FA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5" name="Text 13"/>
          <p:cNvSpPr/>
          <p:nvPr/>
        </p:nvSpPr>
        <p:spPr>
          <a:xfrm>
            <a:off x="1371600" y="4617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KONVERSIJA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4800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11.7%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492240" y="1554480"/>
            <a:ext cx="52120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lv-LV"/>
          </a:p>
        </p:txBody>
      </p:sp>
      <p:sp>
        <p:nvSpPr>
          <p:cNvPr id="18" name="Shape 16"/>
          <p:cNvSpPr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MODELI — gudri zvani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2 072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492240" y="2971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zvani (-77% mazāk)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06640" y="3383280"/>
            <a:ext cx="338328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3" name="Text 21"/>
          <p:cNvSpPr/>
          <p:nvPr/>
        </p:nvSpPr>
        <p:spPr>
          <a:xfrm>
            <a:off x="6492240" y="3520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492240" y="3977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piekrita (no atlasītajiem)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457200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27AE60">
              <a:alpha val="15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6" name="Text 24"/>
          <p:cNvSpPr/>
          <p:nvPr/>
        </p:nvSpPr>
        <p:spPr>
          <a:xfrm>
            <a:off x="7406640" y="46177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KONVERSIJA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06640" y="48006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41.6%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9" name="Text 27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REZULTĀTS: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konversija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 augstāka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zvanu izmaksas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samazinātas par 77%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labāka klientu pieredze.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1" name="Text 29"/>
          <p:cNvSpPr/>
          <p:nvPr/>
        </p:nvSpPr>
        <p:spPr>
          <a:xfrm>
            <a:off x="457200" y="66019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| Mašīnmācīšanās gala projekts |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Galvenās atziņas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66360" y="1188720"/>
            <a:ext cx="1828800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40680" cy="18288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 sagatavošana &gt; komplicēts modelis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23317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0.19 → 0.55 ar to pašu LogisticRegression — tikai pareizi sagatavoti dati.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440680" cy="18288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2" name="Shape 9"/>
          <p:cNvSpPr/>
          <p:nvPr/>
        </p:nvSpPr>
        <p:spPr>
          <a:xfrm>
            <a:off x="6537960" y="182880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18288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ir obligāts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60920" y="233172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Disbalansētiem datiem tas ir kritisks — bez tā svārstības 0.19-0.67!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566160"/>
            <a:ext cx="5440680" cy="18288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17" name="Shape 13"/>
          <p:cNvSpPr/>
          <p:nvPr/>
        </p:nvSpPr>
        <p:spPr>
          <a:xfrm>
            <a:off x="914400" y="38404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0005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37360" y="38404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Biznesa metrika &gt; matemātiskā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37360" y="434340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Apzināti optimizēju Recall (82%), nevis F1 — bankai svarīgi nepalaist garām pircēju.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3566160"/>
            <a:ext cx="5440680" cy="1828800"/>
          </a:xfrm>
          <a:prstGeom prst="rect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sp>
        <p:nvSpPr>
          <p:cNvPr id="22" name="Shape 17"/>
          <p:cNvSpPr/>
          <p:nvPr/>
        </p:nvSpPr>
        <p:spPr>
          <a:xfrm>
            <a:off x="6537960" y="38404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lv-LV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00050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84048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Nākamie soļi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360920" y="434340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Sezonalitātes feature engineering, threshold tuning, LightGBM/CatBoost.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Paldies par uzmanību!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Māra Medne  •  github.com/Mara-Medne/fita-ml-course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578</Words>
  <Application>Microsoft Office PowerPoint</Application>
  <PresentationFormat>Widescreen</PresentationFormat>
  <Paragraphs>172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Bankas klientu termiņdepozīta prognozēšana</dc:title>
  <dc:subject>PptxGenJS Presentation</dc:subject>
  <dc:creator>Māra Medne</dc:creator>
  <cp:lastModifiedBy>Māra Medne</cp:lastModifiedBy>
  <cp:revision>1</cp:revision>
  <dcterms:created xsi:type="dcterms:W3CDTF">2026-04-21T12:16:18Z</dcterms:created>
  <dcterms:modified xsi:type="dcterms:W3CDTF">2026-04-21T12:43:58Z</dcterms:modified>
</cp:coreProperties>
</file>